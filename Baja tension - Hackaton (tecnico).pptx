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63" r:id="rId16"/>
    <p:sldId id="258" r:id="rId7"/>
    <p:sldId id="259" r:id="rId8"/>
    <p:sldId id="262" r:id="rId15"/>
    <p:sldId id="264" r:id="rId17"/>
    <p:sldId id="265" r:id="rId18"/>
    <p:sldId id="266" r:id="rId19"/>
    <p:sldId id="261" r:id="rId10"/>
  </p:sldIdLst>
  <p:sldSz cy="6858000" cx="12192000"/>
  <p:notesSz cx="6858000" cy="9144000"/>
  <p:embeddedFontLst>
    <p:embeddedFont>
      <p:font typeface="Plus Jakarta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usJakartaSans-regular.fntdata"/><Relationship Id="rId10" Type="http://schemas.openxmlformats.org/officeDocument/2006/relationships/slide" Target="slides/slide6.xml"/><Relationship Id="rId13" Type="http://schemas.openxmlformats.org/officeDocument/2006/relationships/font" Target="fonts/PlusJakartaSans-italic.fntdata"/><Relationship Id="rId12" Type="http://schemas.openxmlformats.org/officeDocument/2006/relationships/font" Target="fonts/PlusJakarta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4" Type="http://schemas.openxmlformats.org/officeDocument/2006/relationships/font" Target="fonts/PlusJakartaSans-boldItalic.fntdata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15" Type="http://schemas.openxmlformats.org/officeDocument/2006/relationships/slide" Target="slides/slide7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439c0b7642b9ea2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h439c0b7642b9ea20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439c0b7642b9ea20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h439c0b7642b9ea20_1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2.jp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1.jpg"/><Relationship Id="rId11" Type="http://schemas.openxmlformats.org/officeDocument/2006/relationships/image" Target="../media/image1.png"/><Relationship Id="rId10" Type="http://schemas.openxmlformats.org/officeDocument/2006/relationships/image" Target="../media/image7.png"/><Relationship Id="rId9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9" Type="http://schemas.openxmlformats.org/officeDocument/2006/relationships/image" Target="../media/image2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3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labels_0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4112716"/>
            <a:ext cx="2247900" cy="352425"/>
          </a:xfrm>
          <a:prstGeom prst="roundRect">
            <a:avLst>
              <a:gd fmla="val 50000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09600" y="4560400"/>
            <a:ext cx="1266900" cy="352500"/>
          </a:xfrm>
          <a:prstGeom prst="roundRect">
            <a:avLst>
              <a:gd fmla="val 50000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 title="Gemini_Generated_Image_d2xl99d2xl99d2xl.jpg"/>
          <p:cNvPicPr preferRelativeResize="0"/>
          <p:nvPr/>
        </p:nvPicPr>
        <p:blipFill rotWithShape="1">
          <a:blip r:embed="rId3">
            <a:alphaModFix/>
          </a:blip>
          <a:srcRect b="0" l="5146" r="4093" t="0"/>
          <a:stretch/>
        </p:blipFill>
        <p:spPr>
          <a:xfrm>
            <a:off x="6453521" y="2514563"/>
            <a:ext cx="5549400" cy="3412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7" name="Google Shape;87;p13"/>
          <p:cNvSpPr txBox="1"/>
          <p:nvPr/>
        </p:nvSpPr>
        <p:spPr>
          <a:xfrm>
            <a:off x="278296" y="1529801"/>
            <a:ext cx="6172800" cy="19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Detección de </a:t>
            </a:r>
            <a:r>
              <a:rPr b="1" i="0" lang="en-US" sz="3900" u="none" cap="none" strike="noStrike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Caídas</a:t>
            </a:r>
            <a:r>
              <a:rPr b="1" i="0" lang="en-US" sz="390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</a:t>
            </a:r>
            <a:r>
              <a:rPr b="1" i="0" lang="en-US" sz="3900" u="none" cap="none" strike="noStrike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Movimientos Bruscos</a:t>
            </a:r>
            <a:r>
              <a:rPr b="1" i="0" lang="en-US" sz="390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vía Wi-Fi con </a:t>
            </a:r>
            <a:r>
              <a:rPr b="1" i="0" lang="en-US" sz="3900" u="none" cap="none" strike="noStrike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ESP32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09600" y="3626941"/>
            <a:ext cx="722951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B2C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Cuidado de Adultos Mayores &amp; IoT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800100" y="4188916"/>
            <a:ext cx="1962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Enlace Tx / Rx Dual ESP32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800100" y="4636600"/>
            <a:ext cx="958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Baja tensión</a:t>
            </a:r>
            <a:endParaRPr/>
          </a:p>
        </p:txBody>
      </p:sp>
      <p:pic>
        <p:nvPicPr>
          <p:cNvPr id="91" name="Google Shape;91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221100" y="6545450"/>
            <a:ext cx="8273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Pironio Mariano; Pironio </a:t>
            </a:r>
            <a:r>
              <a:rPr b="1" lang="en-US" sz="1600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Bernardo</a:t>
            </a:r>
            <a:r>
              <a:rPr b="1" lang="en-US" sz="1600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; Bitesnik Ivan; Mastantuono Tomás  </a:t>
            </a:r>
            <a:endParaRPr sz="1800">
              <a:solidFill>
                <a:srgbClr val="2C221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/>
          <p:nvPr/>
        </p:nvSpPr>
        <p:spPr>
          <a:xfrm>
            <a:off x="238286" y="2059930"/>
            <a:ext cx="5846400" cy="1207500"/>
          </a:xfrm>
          <a:prstGeom prst="roundRect">
            <a:avLst>
              <a:gd fmla="val 189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238286" y="3458021"/>
            <a:ext cx="5846400" cy="1207500"/>
          </a:xfrm>
          <a:prstGeom prst="roundRect">
            <a:avLst>
              <a:gd fmla="val 189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238286" y="4856112"/>
            <a:ext cx="5846400" cy="1207500"/>
          </a:xfrm>
          <a:prstGeom prst="roundRect">
            <a:avLst>
              <a:gd fmla="val 18930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8915" y="2252067"/>
            <a:ext cx="4783484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title="Gemini_Generated_Image_komlofkomlofkoml.jpg"/>
          <p:cNvPicPr preferRelativeResize="0"/>
          <p:nvPr/>
        </p:nvPicPr>
        <p:blipFill rotWithShape="1">
          <a:blip r:embed="rId4">
            <a:alphaModFix/>
          </a:blip>
          <a:srcRect b="0" l="5197" r="6417" t="0"/>
          <a:stretch/>
        </p:blipFill>
        <p:spPr>
          <a:xfrm>
            <a:off x="6284575" y="2252075"/>
            <a:ext cx="5731999" cy="3619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986" y="2397025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986" y="3795117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4986" y="5193208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4523" y="2539900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436" y="3937992"/>
            <a:ext cx="190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861" y="5336083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09600" y="990600"/>
            <a:ext cx="11582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dilema al cuidar personas mayores </a:t>
            </a:r>
            <a:r>
              <a:rPr b="1" i="0" lang="en-US" sz="3450" u="none" cap="none" strike="noStrike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vulnerables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1228886" y="2288530"/>
            <a:ext cx="602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Invasión de Privacidad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228886" y="2593330"/>
            <a:ext cx="4684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 cámaras </a:t>
            </a:r>
            <a:r>
              <a:rPr lang="en-US" sz="135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pueden ser muy </a:t>
            </a:r>
            <a:r>
              <a:rPr lang="en-US" sz="135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invasivas en los dormitorios y baños.</a:t>
            </a:r>
            <a:r>
              <a:rPr lang="en-US" sz="135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1228886" y="3686621"/>
            <a:ext cx="602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Dependencia del Usuario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1228886" y="3991421"/>
            <a:ext cx="4684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Las pulseras y botones de pánico no sirven si la persona los olvida, los descarga o queda inconsciente.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1228886" y="5084712"/>
            <a:ext cx="6023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Alto Costo de Sensores Dedicados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1228886" y="5389512"/>
            <a:ext cx="4684500" cy="4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 radares médicos mmWave superan los $300 USD y </a:t>
            </a:r>
            <a:r>
              <a:rPr lang="en-US" sz="135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suelen requerir instalaciones comples y costosas.</a:t>
            </a:r>
            <a:endParaRPr/>
          </a:p>
        </p:txBody>
      </p:sp>
      <p:pic>
        <p:nvPicPr>
          <p:cNvPr id="117" name="Google Shape;117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4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>
            <a:off x="6463605" y="2813595"/>
            <a:ext cx="5118794" cy="3000375"/>
          </a:xfrm>
          <a:prstGeom prst="roundRect">
            <a:avLst>
              <a:gd fmla="val 888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09600" y="2788294"/>
            <a:ext cx="419100" cy="419100"/>
          </a:xfrm>
          <a:prstGeom prst="roundRect">
            <a:avLst>
              <a:gd fmla="val 31818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09600" y="3801516"/>
            <a:ext cx="419100" cy="419100"/>
          </a:xfrm>
          <a:prstGeom prst="roundRect">
            <a:avLst>
              <a:gd fmla="val 31818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09600" y="4814738"/>
            <a:ext cx="419100" cy="419100"/>
          </a:xfrm>
          <a:prstGeom prst="roundRect">
            <a:avLst>
              <a:gd fmla="val 31818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03752" y="3118395"/>
            <a:ext cx="32385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254431" y="1216617"/>
            <a:ext cx="11582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se detecta la </a:t>
            </a:r>
            <a:r>
              <a:rPr b="1" i="0" lang="en-US" sz="3450" u="none" cap="none" strike="noStrike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caída </a:t>
            </a:r>
            <a:r>
              <a:rPr b="1" i="0" lang="en-US" sz="34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entre las dos placas ESP32?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466725" y="2788294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66725" y="3801516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66725" y="4814738"/>
            <a:ext cx="7048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768405" y="5309145"/>
            <a:ext cx="16906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2C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Emisor (ESP32 #1)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265765" y="5309145"/>
            <a:ext cx="158353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2C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Caída Intermedia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677400" y="5309145"/>
            <a:ext cx="20002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B2C1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Receptor (ESP32 #2)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219200" y="2788294"/>
            <a:ext cx="64332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Enlace Punto a Punto (Tx </a:t>
            </a:r>
            <a:r>
              <a:rPr b="1" lang="en-US" sz="1650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    </a:t>
            </a: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Rx)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219200" y="3093094"/>
            <a:ext cx="499675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ESP32 actúa como transmisor (Tx) constante y el segundo ESP32 como receptor (Rx) en la misma habitación.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1219200" y="3801516"/>
            <a:ext cx="6433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Monitoreo de Subportadoras CSI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219200" y="4106316"/>
            <a:ext cx="4996755" cy="479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ESP32 receptor mide continuamente la amplitud de 52 subportadoras de la señal que viaja entre ambos nodos.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219200" y="4814738"/>
            <a:ext cx="64332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Detección de Caída en el Enlace</a:t>
            </a:r>
            <a:endParaRPr/>
          </a:p>
        </p:txBody>
      </p:sp>
      <p:sp>
        <p:nvSpPr>
          <p:cNvPr id="141" name="Google Shape;141;p15"/>
          <p:cNvSpPr txBox="1"/>
          <p:nvPr/>
        </p:nvSpPr>
        <p:spPr>
          <a:xfrm>
            <a:off x="1219200" y="5119538"/>
            <a:ext cx="4996755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 la persona cae y queda inmóvil entre las placas, hay presencia sin movimiento: eso dispara la alerta.</a:t>
            </a:r>
            <a:endParaRPr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 title="equation (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7832" y="2817315"/>
            <a:ext cx="357191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533400" y="6019800"/>
            <a:ext cx="11125200" cy="419100"/>
          </a:xfrm>
          <a:prstGeom prst="roundRect">
            <a:avLst>
              <a:gd fmla="val 3636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33400" y="2681287"/>
            <a:ext cx="5448300" cy="2305200"/>
          </a:xfrm>
          <a:prstGeom prst="roundRect">
            <a:avLst>
              <a:gd fmla="val 826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210300" y="2424112"/>
            <a:ext cx="5448300" cy="1333500"/>
          </a:xfrm>
          <a:prstGeom prst="roundRect">
            <a:avLst>
              <a:gd fmla="val 1428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6210300" y="3910012"/>
            <a:ext cx="5448300" cy="1333500"/>
          </a:xfrm>
          <a:prstGeom prst="roundRect">
            <a:avLst>
              <a:gd fmla="val 1428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6210300" y="2424112"/>
            <a:ext cx="57300" cy="1333500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210300" y="3910012"/>
            <a:ext cx="57300" cy="13335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737419" y="4450172"/>
            <a:ext cx="514500" cy="228600"/>
          </a:xfrm>
          <a:prstGeom prst="roundRect">
            <a:avLst>
              <a:gd fmla="val 33333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7" name="Google Shape;15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61341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96050" y="2690812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6050" y="4176712"/>
            <a:ext cx="2190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6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533400" y="781050"/>
            <a:ext cx="1165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C73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ESPECTRAL DE LA SEÑAL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365312" y="1057275"/>
            <a:ext cx="11658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Firma </a:t>
            </a:r>
            <a:r>
              <a:rPr b="1" i="0" lang="en-US" sz="3450" u="none" cap="none" strike="noStrike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Espectral </a:t>
            </a:r>
            <a:r>
              <a:rPr b="1" i="0" lang="en-US" sz="34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CSI: ¿Cómo traduce el ESP32 la caída?</a:t>
            </a:r>
            <a:endParaRPr sz="3450"/>
          </a:p>
        </p:txBody>
      </p:sp>
      <p:sp>
        <p:nvSpPr>
          <p:cNvPr id="164" name="Google Shape;164;p16"/>
          <p:cNvSpPr txBox="1"/>
          <p:nvPr/>
        </p:nvSpPr>
        <p:spPr>
          <a:xfrm>
            <a:off x="1028700" y="6138862"/>
            <a:ext cx="111633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Conexión Directa Tx </a:t>
            </a:r>
            <a:r>
              <a:rPr b="1" lang="en-US" sz="1125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      </a:t>
            </a:r>
            <a:r>
              <a:rPr b="1" i="0" lang="en-US" sz="1125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Rx:</a:t>
            </a:r>
            <a:r>
              <a:rPr b="0" i="0" lang="en-US" sz="1125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El par de ESP32 opera en un canal directo sin mediación de router ni dependencia de señal de Internet.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762000" y="2914650"/>
            <a:ext cx="3987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Espectrograma CSI (64 Subcarriers)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6496050" y="2652712"/>
            <a:ext cx="569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32F2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Motion (Métrica de Movimiento Brusco)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6496050" y="2928937"/>
            <a:ext cx="50292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Mide la </a:t>
            </a:r>
            <a:r>
              <a:rPr b="1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varianza espectral</a:t>
            </a: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 una ventana de ~0.5 segundos, en múltiplos (σ) del ruido de calibración. Detecta movimiento, pero por sí sola no distingue una caída de sentarse.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6496050" y="4138612"/>
            <a:ext cx="5696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976D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Presence (Métrica de Post-Caída / Inmovilidad)</a:t>
            </a:r>
            <a:endParaRPr/>
          </a:p>
        </p:txBody>
      </p:sp>
      <p:sp>
        <p:nvSpPr>
          <p:cNvPr id="169" name="Google Shape;169;p16"/>
          <p:cNvSpPr txBox="1"/>
          <p:nvPr/>
        </p:nvSpPr>
        <p:spPr>
          <a:xfrm>
            <a:off x="6496050" y="4414837"/>
            <a:ext cx="5029200" cy="6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Mide la </a:t>
            </a:r>
            <a:r>
              <a:rPr b="1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distancia acumulada frente al cuarto vacío</a:t>
            </a: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Si la persona cae y queda tendida en el piso, la presencia permanece alta aunque el movimiento vuelva a cero.</a:t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733075" y="3440850"/>
            <a:ext cx="514500" cy="228600"/>
          </a:xfrm>
          <a:prstGeom prst="roundRect">
            <a:avLst>
              <a:gd fmla="val 33333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838815" y="3474013"/>
            <a:ext cx="3276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 Y</a:t>
            </a:r>
            <a:endParaRPr/>
          </a:p>
        </p:txBody>
      </p:sp>
      <p:sp>
        <p:nvSpPr>
          <p:cNvPr id="172" name="Google Shape;172;p16"/>
          <p:cNvSpPr txBox="1"/>
          <p:nvPr/>
        </p:nvSpPr>
        <p:spPr>
          <a:xfrm>
            <a:off x="1299120" y="3414712"/>
            <a:ext cx="4549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64 Subportadoras (Subcarriers):</a:t>
            </a: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Canales independientes de frecuencia OFDM.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730045" y="3902489"/>
            <a:ext cx="514500" cy="228600"/>
          </a:xfrm>
          <a:prstGeom prst="roundRect">
            <a:avLst>
              <a:gd fmla="val 33333" name="adj"/>
            </a:avLst>
          </a:prstGeom>
          <a:solidFill>
            <a:srgbClr val="2C221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838815" y="3944732"/>
            <a:ext cx="371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Eje X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1343025" y="3910012"/>
            <a:ext cx="45054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Tiempo / Frames:</a:t>
            </a: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Captura continua (~100 muestras por segundo).</a:t>
            </a:r>
            <a:endParaRPr/>
          </a:p>
        </p:txBody>
      </p:sp>
      <p:sp>
        <p:nvSpPr>
          <p:cNvPr id="176" name="Google Shape;176;p16"/>
          <p:cNvSpPr txBox="1"/>
          <p:nvPr/>
        </p:nvSpPr>
        <p:spPr>
          <a:xfrm>
            <a:off x="805360" y="4496187"/>
            <a:ext cx="419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Color</a:t>
            </a:r>
            <a:endParaRPr/>
          </a:p>
        </p:txBody>
      </p:sp>
      <p:sp>
        <p:nvSpPr>
          <p:cNvPr id="177" name="Google Shape;177;p16"/>
          <p:cNvSpPr txBox="1"/>
          <p:nvPr/>
        </p:nvSpPr>
        <p:spPr>
          <a:xfrm>
            <a:off x="1390650" y="4395787"/>
            <a:ext cx="4457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Amplitud Normalizada:</a:t>
            </a:r>
            <a:r>
              <a:rPr b="0" i="0" lang="en-US" sz="1125" u="none" cap="none" strike="noStrike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Filtra ganancias de radio (AGC) para evitar falsas alarmas.</a:t>
            </a:r>
            <a:endParaRPr/>
          </a:p>
        </p:txBody>
      </p:sp>
      <p:pic>
        <p:nvPicPr>
          <p:cNvPr id="178" name="Google Shape;17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6" title="equation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29453" y="6176007"/>
            <a:ext cx="190500" cy="10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4ED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/>
          <p:nvPr/>
        </p:nvSpPr>
        <p:spPr>
          <a:xfrm>
            <a:off x="3902999" y="1138400"/>
            <a:ext cx="4386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¡Muchas Gracias!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210" name="Google Shape;2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  <a:endParaRPr/>
          </a:p>
        </p:txBody>
      </p:sp>
      <p:sp>
        <p:nvSpPr>
          <p:cNvPr id="213" name="Google Shape;213;p18"/>
          <p:cNvSpPr txBox="1"/>
          <p:nvPr/>
        </p:nvSpPr>
        <p:spPr>
          <a:xfrm>
            <a:off x="4569600" y="1738700"/>
            <a:ext cx="295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</a:t>
            </a:r>
            <a:r>
              <a:rPr b="1" lang="en-US" sz="3600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Preguntas</a:t>
            </a:r>
            <a:r>
              <a:rPr b="1" lang="en-US" sz="3600">
                <a:solidFill>
                  <a:srgbClr val="D32F2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?</a:t>
            </a:r>
            <a:endParaRPr sz="1100">
              <a:solidFill>
                <a:srgbClr val="D32F2F"/>
              </a:solidFill>
            </a:endParaRPr>
          </a:p>
        </p:txBody>
      </p:sp>
      <p:pic>
        <p:nvPicPr>
          <p:cNvPr id="214" name="Google Shape;214;p18" title="Gemini_Generated_Image_2rensq2rensq2ren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59163" y="2461625"/>
            <a:ext cx="7073700" cy="394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Header icon" descr="image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</p:spPr>
      </p:pic>
      <p:sp>
        <p:nvSpPr>
          <p:cNvPr id="302" name="Header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es-AR" sz="1200" b="1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</a:p>
        </p:txBody>
      </p:sp>
      <p:pic>
        <p:nvPicPr>
          <p:cNvPr id="303" name="Logo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</p:spPr>
      </p:pic>
      <p:sp>
        <p:nvSpPr>
          <p:cNvPr id="304" name="Kicker"/>
          <p:cNvSpPr txBox="1"/>
          <p:nvPr/>
        </p:nvSpPr>
        <p:spPr>
          <a:xfrm>
            <a:off x="609600" y="781050"/>
            <a:ext cx="8001000" cy="18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es-AR" sz="1200" b="1">
                <a:solidFill>
                  <a:srgbClr val="8C73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DEL PROTOTIPO</a:t>
            </a:r>
          </a:p>
        </p:txBody>
      </p:sp>
      <p:sp>
        <p:nvSpPr>
          <p:cNvPr id="305" name="Title"/>
          <p:cNvSpPr txBox="1"/>
          <p:nvPr/>
        </p:nvSpPr>
        <p:spPr>
          <a:xfrm>
            <a:off x="609600" y="1057275"/>
            <a:ext cx="10972800" cy="53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AR" sz="34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placa </a:t>
            </a:r>
            <a:r>
              <a:rPr lang="es-AR" sz="3450" b="1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mide</a:t>
            </a:r>
            <a:r>
              <a:rPr lang="es-AR" sz="34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la PC </a:t>
            </a:r>
            <a:r>
              <a:rPr lang="es-AR" sz="3450" b="1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interpreta</a:t>
            </a:r>
          </a:p>
        </p:txBody>
      </p:sp>
      <p:sp>
        <p:nvSpPr>
          <p:cNvPr id="306" name="Subtitle"/>
          <p:cNvSpPr txBox="1"/>
          <p:nvPr/>
        </p:nvSpPr>
        <p:spPr>
          <a:xfrm>
            <a:off x="609600" y="1752600"/>
            <a:ext cx="109728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es-AR" sz="135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placa receptora se calibra y envía cada paquete por USB; la PC calcula los puntajes y los muestra en vivo.</a:t>
            </a:r>
          </a:p>
        </p:txBody>
      </p:sp>
      <p:sp>
        <p:nvSpPr>
          <p:cNvPr id="310" name="Card 1"/>
          <p:cNvSpPr/>
          <p:nvPr/>
        </p:nvSpPr>
        <p:spPr>
          <a:xfrm>
            <a:off x="609600" y="2286000"/>
            <a:ext cx="251460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311" name="Card 1 number"/>
          <p:cNvSpPr/>
          <p:nvPr/>
        </p:nvSpPr>
        <p:spPr>
          <a:xfrm>
            <a:off x="838200" y="2514600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2C22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AR" sz="1500" b="1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</a:p>
        </p:txBody>
      </p:sp>
      <p:sp>
        <p:nvSpPr>
          <p:cNvPr id="312" name="Card 1 heading"/>
          <p:cNvSpPr txBox="1"/>
          <p:nvPr/>
        </p:nvSpPr>
        <p:spPr>
          <a:xfrm>
            <a:off x="838200" y="3086100"/>
            <a:ext cx="2057400" cy="254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es-AR" sz="16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Calibración</a:t>
            </a:r>
          </a:p>
        </p:txBody>
      </p:sp>
      <p:sp>
        <p:nvSpPr>
          <p:cNvPr id="313" name="Card 1 body"/>
          <p:cNvSpPr txBox="1"/>
          <p:nvPr/>
        </p:nvSpPr>
        <p:spPr>
          <a:xfrm>
            <a:off x="838200" y="3429000"/>
            <a:ext cx="20574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s-AR" sz="120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la placa: 10 s quieto + 10 s caminando. Guarda el promedio de cada subportadora en flash; K1 recalibra.</a:t>
            </a:r>
          </a:p>
        </p:txBody>
      </p:sp>
      <p:pic>
        <p:nvPicPr>
          <p:cNvPr id="314" name="Arrow 1" descr="Flecha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3176587" y="3543300"/>
            <a:ext cx="200025" cy="228600"/>
          </a:xfrm>
          <a:prstGeom prst="rect">
            <a:avLst/>
          </a:prstGeom>
          <a:noFill/>
        </p:spPr>
      </p:pic>
      <p:sp>
        <p:nvSpPr>
          <p:cNvPr id="320" name="Card 2"/>
          <p:cNvSpPr/>
          <p:nvPr/>
        </p:nvSpPr>
        <p:spPr>
          <a:xfrm>
            <a:off x="3429000" y="2286000"/>
            <a:ext cx="251460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321" name="Card 2 number"/>
          <p:cNvSpPr/>
          <p:nvPr/>
        </p:nvSpPr>
        <p:spPr>
          <a:xfrm>
            <a:off x="3657600" y="2514600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2C22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AR" sz="1500" b="1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</a:p>
        </p:txBody>
      </p:sp>
      <p:sp>
        <p:nvSpPr>
          <p:cNvPr id="322" name="Card 2 heading"/>
          <p:cNvSpPr txBox="1"/>
          <p:nvPr/>
        </p:nvSpPr>
        <p:spPr>
          <a:xfrm>
            <a:off x="3657600" y="3086100"/>
            <a:ext cx="2057400" cy="254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es-AR" sz="16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Transmisión</a:t>
            </a:r>
          </a:p>
        </p:txBody>
      </p:sp>
      <p:sp>
        <p:nvSpPr>
          <p:cNvPr id="323" name="Card 2 body"/>
          <p:cNvSpPr txBox="1"/>
          <p:nvPr/>
        </p:nvSpPr>
        <p:spPr>
          <a:xfrm>
            <a:off x="3657600" y="3429000"/>
            <a:ext cx="20574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s-AR" sz="120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~100 paquetes/s por USB: la amplitud de 52 subportadoras más los promedios de calibración.</a:t>
            </a:r>
          </a:p>
        </p:txBody>
      </p:sp>
      <p:pic>
        <p:nvPicPr>
          <p:cNvPr id="324" name="Arrow 2" descr="Flecha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5995987" y="3543300"/>
            <a:ext cx="200025" cy="228600"/>
          </a:xfrm>
          <a:prstGeom prst="rect">
            <a:avLst/>
          </a:prstGeom>
          <a:noFill/>
        </p:spPr>
      </p:pic>
      <p:sp>
        <p:nvSpPr>
          <p:cNvPr id="330" name="Card 3"/>
          <p:cNvSpPr/>
          <p:nvPr/>
        </p:nvSpPr>
        <p:spPr>
          <a:xfrm>
            <a:off x="6248400" y="2286000"/>
            <a:ext cx="251460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331" name="Card 3 number"/>
          <p:cNvSpPr/>
          <p:nvPr/>
        </p:nvSpPr>
        <p:spPr>
          <a:xfrm>
            <a:off x="6477000" y="2514600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2C22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AR" sz="1500" b="1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</a:p>
        </p:txBody>
      </p:sp>
      <p:sp>
        <p:nvSpPr>
          <p:cNvPr id="332" name="Card 3 heading"/>
          <p:cNvSpPr txBox="1"/>
          <p:nvPr/>
        </p:nvSpPr>
        <p:spPr>
          <a:xfrm>
            <a:off x="6477000" y="3086100"/>
            <a:ext cx="2057400" cy="254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es-AR" sz="16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Puntajes en σ</a:t>
            </a:r>
          </a:p>
        </p:txBody>
      </p:sp>
      <p:sp>
        <p:nvSpPr>
          <p:cNvPr id="333" name="Card 3 body"/>
          <p:cNvSpPr txBox="1"/>
          <p:nvPr/>
        </p:nvSpPr>
        <p:spPr>
          <a:xfrm>
            <a:off x="6477000" y="3429000"/>
            <a:ext cx="20574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s-AR" sz="1200" b="1">
                <a:solidFill>
                  <a:srgbClr val="D32F2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Motion: </a:t>
            </a:r>
            <a:r>
              <a:rPr lang="es-AR" sz="120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cuánto fluctúa la señal en 0,5 s.</a:t>
            </a:r>
          </a:p>
          <a:p>
            <a:pPr algn="l">
              <a:lnSpc>
                <a:spcPct val="130000"/>
              </a:lnSpc>
              <a:buNone/>
            </a:pPr>
            <a:r>
              <a:rPr lang="es-AR" sz="1200" b="1">
                <a:solidFill>
                  <a:srgbClr val="1976D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Presence: </a:t>
            </a:r>
            <a:r>
              <a:rPr lang="es-AR" sz="120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cuánto difiere del cuarto vacío. Ambos en múltiplos del ruido base.</a:t>
            </a:r>
          </a:p>
        </p:txBody>
      </p:sp>
      <p:pic>
        <p:nvPicPr>
          <p:cNvPr id="334" name="Arrow 3" descr="Flecha"/>
          <p:cNvPicPr preferRelativeResize="0"/>
          <p:nvPr/>
        </p:nvPicPr>
        <p:blipFill>
          <a:blip r:embed="rId5"/>
          <a:stretch>
            <a:fillRect/>
          </a:stretch>
        </p:blipFill>
        <p:spPr>
          <a:xfrm>
            <a:off x="8815387" y="3543300"/>
            <a:ext cx="200025" cy="228600"/>
          </a:xfrm>
          <a:prstGeom prst="rect">
            <a:avLst/>
          </a:prstGeom>
          <a:noFill/>
        </p:spPr>
      </p:pic>
      <p:sp>
        <p:nvSpPr>
          <p:cNvPr id="340" name="Card 4"/>
          <p:cNvSpPr/>
          <p:nvPr/>
        </p:nvSpPr>
        <p:spPr>
          <a:xfrm>
            <a:off x="9067800" y="2286000"/>
            <a:ext cx="2514600" cy="27432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AR"/>
          </a:p>
        </p:txBody>
      </p:sp>
      <p:sp>
        <p:nvSpPr>
          <p:cNvPr id="341" name="Card 4 number"/>
          <p:cNvSpPr/>
          <p:nvPr/>
        </p:nvSpPr>
        <p:spPr>
          <a:xfrm>
            <a:off x="9296400" y="2514600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2C2211"/>
          </a:solidFill>
          <a:ln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buNone/>
            </a:pPr>
            <a:r>
              <a:rPr lang="es-AR" sz="1500" b="1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</a:t>
            </a:r>
          </a:p>
        </p:txBody>
      </p:sp>
      <p:sp>
        <p:nvSpPr>
          <p:cNvPr id="342" name="Card 4 heading"/>
          <p:cNvSpPr txBox="1"/>
          <p:nvPr/>
        </p:nvSpPr>
        <p:spPr>
          <a:xfrm>
            <a:off x="9296400" y="3086100"/>
            <a:ext cx="2057400" cy="254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buNone/>
            </a:pPr>
            <a:r>
              <a:rPr lang="es-AR" sz="16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Visualización</a:t>
            </a:r>
          </a:p>
        </p:txBody>
      </p:sp>
      <p:sp>
        <p:nvSpPr>
          <p:cNvPr id="343" name="Card 4 body"/>
          <p:cNvSpPr txBox="1"/>
          <p:nvPr/>
        </p:nvSpPr>
        <p:spPr>
          <a:xfrm>
            <a:off x="9296400" y="3429000"/>
            <a:ext cx="20574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s-AR" sz="120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Mapa de calor en vivo, puntajes y marcas de eventos (caída, sentarse…) para grabar y analizar.</a:t>
            </a:r>
          </a:p>
        </p:txBody>
      </p:sp>
      <p:sp>
        <p:nvSpPr>
          <p:cNvPr id="350" name="Evidence bar"/>
          <p:cNvSpPr/>
          <p:nvPr/>
        </p:nvSpPr>
        <p:spPr>
          <a:xfrm>
            <a:off x="609600" y="5334000"/>
            <a:ext cx="10972800" cy="7620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45720" rIns="228600" bIns="45720" anchor="ctr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s-AR" sz="1200" b="1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Validado con grabaciones reales: </a:t>
            </a:r>
            <a:r>
              <a:rPr lang="es-AR" sz="1200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habitación vacía ≈ 0–2σ · caminar 15–60σ · persona quieta: movimiento &lt; 4σ con presencia 6–25σ. ~100 muestras/s usando ≈1 % del canal Wi-Fi.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 icon" descr="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</p:spPr>
      </p:pic>
      <p:sp>
        <p:nvSpPr>
          <p:cNvPr id="3" name="Header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s-AR" sz="1200" b="1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</a:p>
        </p:txBody>
      </p:sp>
      <p:pic>
        <p:nvPicPr>
          <p:cNvPr id="4" name="Logo" descr="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</p:spPr>
      </p:pic>
      <p:sp>
        <p:nvSpPr>
          <p:cNvPr id="5" name="Kicker"/>
          <p:cNvSpPr txBox="1"/>
          <p:nvPr/>
        </p:nvSpPr>
        <p:spPr>
          <a:xfrm>
            <a:off x="609600" y="781050"/>
            <a:ext cx="8001000" cy="18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200" b="1">
                <a:solidFill>
                  <a:srgbClr val="8C73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QUIÉN MÁS RESUELVE ESTO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09600" y="1057275"/>
            <a:ext cx="10972800" cy="53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AR" sz="34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Competencia y </a:t>
            </a:r>
            <a:r>
              <a:rPr lang="es-AR" sz="3450" b="1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estado del arte</a:t>
            </a:r>
          </a:p>
        </p:txBody>
      </p:sp>
      <p:graphicFrame>
        <p:nvGraphicFramePr>
          <p:cNvPr id="7" name="Comparison table"/>
          <p:cNvGraphicFramePr>
            <a:graphicFrameLocks noGrp="1"/>
          </p:cNvGraphicFramePr>
          <p:nvPr/>
        </p:nvGraphicFramePr>
        <p:xfrm>
          <a:off x="609600" y="1905000"/>
          <a:ext cx="10972800" cy="2971800"/>
        </p:xfrm>
        <a:graphic>
          <a:graphicData uri="http://schemas.openxmlformats.org/drawingml/2006/table">
            <a:tbl>
              <a:tblPr firstRow="1"/>
              <a:tblGrid>
                <a:gridCol w="2700000"/>
                <a:gridCol w="1600000"/>
                <a:gridCol w="1150000"/>
                <a:gridCol w="1450000"/>
                <a:gridCol w="1550000"/>
                <a:gridCol w="2522800"/>
              </a:tblGrid>
              <a:tr h="502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1">
                          <a:solidFill>
                            <a:srgbClr val="F7F4E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Solución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2C22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1">
                          <a:solidFill>
                            <a:srgbClr val="F7F4E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Costo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2C22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100" b="1">
                          <a:solidFill>
                            <a:srgbClr val="F7F4E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Sin cámara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2C22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100" b="1">
                          <a:solidFill>
                            <a:srgbClr val="F7F4E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Sin acción del usuario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2C221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100" b="1">
                          <a:solidFill>
                            <a:srgbClr val="F7F4E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Si queda inconsciente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2C22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1">
                          <a:solidFill>
                            <a:srgbClr val="F7F4ED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Qué detecta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2C221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1">
                          <a:solidFill>
                            <a:srgbClr val="241A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Botón / pulsera de pánico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0">
                          <a:solidFill>
                            <a:srgbClr val="5C4D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2E7D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D32F2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✗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D32F2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✗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0">
                          <a:solidFill>
                            <a:srgbClr val="5C4D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Pedido de ayuda manual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1">
                          <a:solidFill>
                            <a:srgbClr val="241A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Cámara con IA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0">
                          <a:solidFill>
                            <a:srgbClr val="5C4D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D32F2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✗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2E7D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2E7D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0">
                          <a:solidFill>
                            <a:srgbClr val="5C4D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Caídas, con imagen del hogar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1">
                          <a:solidFill>
                            <a:srgbClr val="241A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Radar mmWave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0">
                          <a:solidFill>
                            <a:srgbClr val="5C4D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&gt; US$300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2E7D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2E7D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2E7D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0">
                          <a:solidFill>
                            <a:srgbClr val="5C4D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Caídas, respiración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1">
                          <a:solidFill>
                            <a:srgbClr val="241A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Ato (asistente de voz)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0">
                          <a:solidFill>
                            <a:srgbClr val="5C4D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US$150–179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2E7D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D32F2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✗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D32F2F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✗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0">
                          <a:solidFill>
                            <a:srgbClr val="5C4D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Compañía, recordatorios, mensajes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1">
                          <a:solidFill>
                            <a:srgbClr val="241A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DensePose WiFi (CMU, 2022)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0">
                          <a:solidFill>
                            <a:srgbClr val="5C4D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2 routers + GPU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2E7D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2E7D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2E7D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0">
                          <a:solidFill>
                            <a:srgbClr val="5C4D3C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Pose del cuerpo (investigación)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1">
                          <a:solidFill>
                            <a:srgbClr val="241A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Nosotros: ESP32 + Wi-Fi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1">
                          <a:solidFill>
                            <a:srgbClr val="241A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≈ US$10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2E7D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2E7D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AR" sz="1400" b="1">
                          <a:solidFill>
                            <a:srgbClr val="2E7D32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✓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DEBD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AR" sz="1100" b="1">
                          <a:solidFill>
                            <a:srgbClr val="241A0E"/>
                          </a:solidFill>
                          <a:latin typeface="Plus Jakarta Sans"/>
                          <a:ea typeface="Plus Jakarta Sans"/>
                          <a:cs typeface="Plus Jakarta Sans"/>
                          <a:sym typeface="Plus Jakarta Sans"/>
                        </a:rPr>
                        <a:t>Presencia, movimiento, inmovilidad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8E1D5"/>
                      </a:solidFill>
                    </a:lnB>
                    <a:solidFill>
                      <a:srgbClr val="FDEBDC"/>
                    </a:solidFill>
                  </a:tcPr>
                </a:tc>
              </a:tr>
            </a:tbl>
          </a:graphicData>
        </a:graphic>
      </p:graphicFrame>
      <p:sp>
        <p:nvSpPr>
          <p:cNvPr id="8" name="Ato note"/>
          <p:cNvSpPr/>
          <p:nvPr/>
        </p:nvSpPr>
        <p:spPr>
          <a:xfrm>
            <a:off x="609600" y="5105400"/>
            <a:ext cx="10972800" cy="6858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0" rIns="228600" bIns="0" anchor="ctr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es-AR" sz="1200" b="1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Ato es complementario, no rival: </a:t>
            </a:r>
            <a:r>
              <a:rPr lang="es-AR" sz="1200" b="0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Ato conversa con la persona; nosotros la cuidamos cuando no puede hablar. Una alerta nuestra podría disparar su chequeo por voz.</a:t>
            </a:r>
          </a:p>
        </p:txBody>
      </p:sp>
      <p:sp>
        <p:nvSpPr>
          <p:cNvPr id="9" name="Sources"/>
          <p:cNvSpPr txBox="1"/>
          <p:nvPr/>
        </p:nvSpPr>
        <p:spPr>
          <a:xfrm>
            <a:off x="609600" y="5943600"/>
            <a:ext cx="109728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000" b="0">
                <a:solidFill>
                  <a:srgbClr val="8C73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Fuentes: Ato según prensa (precio de preventa); radar mmWave según slide 2; CMU: Geng, Huang y De la Torre, “DensePose From WiFi”, arXiv:2301.00250.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 icon" descr="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</p:spPr>
      </p:pic>
      <p:sp>
        <p:nvSpPr>
          <p:cNvPr id="3" name="Header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s-AR" sz="1200" b="1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</a:p>
        </p:txBody>
      </p:sp>
      <p:pic>
        <p:nvPicPr>
          <p:cNvPr id="4" name="Logo" descr="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</p:spPr>
      </p:pic>
      <p:sp>
        <p:nvSpPr>
          <p:cNvPr id="5" name="Kicker"/>
          <p:cNvSpPr txBox="1"/>
          <p:nvPr/>
        </p:nvSpPr>
        <p:spPr>
          <a:xfrm>
            <a:off x="609600" y="781050"/>
            <a:ext cx="8001000" cy="18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200" b="1">
                <a:solidFill>
                  <a:srgbClr val="8C73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 QUE APRENDIMOS DE LOS DATOS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09600" y="1057275"/>
            <a:ext cx="10972800" cy="53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AR" sz="34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Límites </a:t>
            </a:r>
            <a:r>
              <a:rPr lang="es-AR" sz="3450" b="1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técnicos</a:t>
            </a:r>
            <a:r>
              <a:rPr lang="es-AR" sz="34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cómo los resolvimos</a:t>
            </a:r>
          </a:p>
        </p:txBody>
      </p:sp>
      <p:sp>
        <p:nvSpPr>
          <p:cNvPr id="7" name="Recording card"/>
          <p:cNvSpPr/>
          <p:nvPr/>
        </p:nvSpPr>
        <p:spPr>
          <a:xfrm>
            <a:off x="609600" y="1828800"/>
            <a:ext cx="4800600" cy="349431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s-AR"/>
          </a:p>
        </p:txBody>
      </p:sp>
      <p:pic>
        <p:nvPicPr>
          <p:cNvPr id="8" name="Recording" descr="Grabación real con marcas: movimiento y presencia en el tiempo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723900" y="1943100"/>
            <a:ext cx="4572000" cy="3265714"/>
          </a:xfrm>
          <a:prstGeom prst="rect">
            <a:avLst/>
          </a:prstGeom>
          <a:noFill/>
        </p:spPr>
      </p:pic>
      <p:sp>
        <p:nvSpPr>
          <p:cNvPr id="9" name="Recording caption"/>
          <p:cNvSpPr txBox="1"/>
          <p:nvPr/>
        </p:nvSpPr>
        <p:spPr>
          <a:xfrm>
            <a:off x="609600" y="5410200"/>
            <a:ext cx="4800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s-AR" sz="1000" b="0">
                <a:solidFill>
                  <a:srgbClr val="8C73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Grabación real (labels_03): las caídas (rojo) dan picos menores que sentarse (rosa) o agacharse (gris).</a:t>
            </a:r>
          </a:p>
        </p:txBody>
      </p:sp>
      <p:sp>
        <p:nvSpPr>
          <p:cNvPr id="10" name="Limit 1"/>
          <p:cNvSpPr txBox="1"/>
          <p:nvPr/>
        </p:nvSpPr>
        <p:spPr>
          <a:xfrm>
            <a:off x="5638800" y="1828800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30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caída no se reconoce por su pico</a:t>
            </a:r>
          </a:p>
        </p:txBody>
      </p:sp>
      <p:sp>
        <p:nvSpPr>
          <p:cNvPr id="11" name="Limit 1 detail"/>
          <p:cNvSpPr txBox="1"/>
          <p:nvPr/>
        </p:nvSpPr>
        <p:spPr>
          <a:xfrm>
            <a:off x="5638800" y="205740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AR" sz="1125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nuestras pruebas, caer dio 22–27σ: menos que sentarse (39σ) o caminar (hasta 66σ).</a:t>
            </a:r>
          </a:p>
        </p:txBody>
      </p:sp>
      <p:sp>
        <p:nvSpPr>
          <p:cNvPr id="12" name="Limit 2"/>
          <p:cNvSpPr txBox="1"/>
          <p:nvPr/>
        </p:nvSpPr>
        <p:spPr>
          <a:xfrm>
            <a:off x="5638800" y="2528800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30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 valores cambian entre corridas</a:t>
            </a:r>
          </a:p>
        </p:txBody>
      </p:sp>
      <p:sp>
        <p:nvSpPr>
          <p:cNvPr id="13" name="Limit 2 detail"/>
          <p:cNvSpPr txBox="1"/>
          <p:nvPr/>
        </p:nvSpPr>
        <p:spPr>
          <a:xfrm>
            <a:off x="5638800" y="275740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AR" sz="1125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Cambian con distancia y objetos. Hasta CMU baja de 43,5 a 27,3 AP en otro cuarto.</a:t>
            </a:r>
          </a:p>
        </p:txBody>
      </p:sp>
      <p:sp>
        <p:nvSpPr>
          <p:cNvPr id="14" name="Limit 3"/>
          <p:cNvSpPr txBox="1"/>
          <p:nvPr/>
        </p:nvSpPr>
        <p:spPr>
          <a:xfrm>
            <a:off x="5638800" y="3228800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30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 objetos parecen personas</a:t>
            </a:r>
          </a:p>
        </p:txBody>
      </p:sp>
      <p:sp>
        <p:nvSpPr>
          <p:cNvPr id="15" name="Limit 3 detail"/>
          <p:cNvSpPr txBox="1"/>
          <p:nvPr/>
        </p:nvSpPr>
        <p:spPr>
          <a:xfrm>
            <a:off x="5638800" y="345740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AR" sz="1125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Una silla o un colchón movidos después de calibrar elevan la “presencia”.</a:t>
            </a:r>
          </a:p>
        </p:txBody>
      </p:sp>
      <p:sp>
        <p:nvSpPr>
          <p:cNvPr id="16" name="Limit 4"/>
          <p:cNvSpPr txBox="1"/>
          <p:nvPr/>
        </p:nvSpPr>
        <p:spPr>
          <a:xfrm>
            <a:off x="5638800" y="3928800"/>
            <a:ext cx="59436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30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solo enlace no ubica</a:t>
            </a:r>
          </a:p>
        </p:txBody>
      </p:sp>
      <p:sp>
        <p:nvSpPr>
          <p:cNvPr id="17" name="Limit 4 detail"/>
          <p:cNvSpPr txBox="1"/>
          <p:nvPr/>
        </p:nvSpPr>
        <p:spPr>
          <a:xfrm>
            <a:off x="5638800" y="4157400"/>
            <a:ext cx="59436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AR" sz="1125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Sabe que hay alguien en el camino de la señal, pero no dónde está.</a:t>
            </a:r>
          </a:p>
        </p:txBody>
      </p:sp>
      <p:sp>
        <p:nvSpPr>
          <p:cNvPr id="18" name="Our answer"/>
          <p:cNvSpPr/>
          <p:nvPr/>
        </p:nvSpPr>
        <p:spPr>
          <a:xfrm>
            <a:off x="5638800" y="4663440"/>
            <a:ext cx="5943600" cy="640080"/>
          </a:xfrm>
          <a:prstGeom prst="roundRect">
            <a:avLst>
              <a:gd name="adj" fmla="val 20000"/>
            </a:avLst>
          </a:prstGeom>
          <a:solidFill>
            <a:srgbClr val="2C2211"/>
          </a:solidFill>
          <a:ln>
            <a:noFill/>
          </a:ln>
        </p:spPr>
        <p:txBody>
          <a:bodyPr wrap="square" lIns="182880" tIns="0" rIns="18288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AR" sz="1200" b="1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Nuestra respuesta: </a:t>
            </a:r>
            <a:r>
              <a:rPr lang="es-AR" sz="1200" b="0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buscar la inmovilidad después del evento (no la caída en sí) y calibrar en cada habitación, antes de alertar.</a:t>
            </a:r>
          </a:p>
        </p:txBody>
      </p:sp>
      <p:sp>
        <p:nvSpPr>
          <p:cNvPr id="19" name="Privacy"/>
          <p:cNvSpPr/>
          <p:nvPr/>
        </p:nvSpPr>
        <p:spPr>
          <a:xfrm>
            <a:off x="5638800" y="5394960"/>
            <a:ext cx="59436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0" tIns="0" rIns="182880" bIns="0" anchor="ctr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AR" sz="110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¿Puede espiar? </a:t>
            </a:r>
            <a:r>
              <a:rPr lang="es-AR" sz="11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 un enlace solo ve presencia y movimiento. Estimar pose o mapear requiere muchas antenas y ML entrenado con cámaras (CMU). Procesamos todo en la placa y solo enviamos eventos.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 icon" descr="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</p:spPr>
      </p:pic>
      <p:sp>
        <p:nvSpPr>
          <p:cNvPr id="3" name="Header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s-AR" sz="1200" b="1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</a:p>
        </p:txBody>
      </p:sp>
      <p:pic>
        <p:nvPicPr>
          <p:cNvPr id="4" name="Logo" descr="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</p:spPr>
      </p:pic>
      <p:sp>
        <p:nvSpPr>
          <p:cNvPr id="5" name="Kicker"/>
          <p:cNvSpPr txBox="1"/>
          <p:nvPr/>
        </p:nvSpPr>
        <p:spPr>
          <a:xfrm>
            <a:off x="609600" y="781050"/>
            <a:ext cx="8001000" cy="18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200" b="1">
                <a:solidFill>
                  <a:srgbClr val="8C73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CONDICIONES DE OPERACIÓN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09600" y="1057275"/>
            <a:ext cx="10972800" cy="53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AR" sz="34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</a:t>
            </a:r>
            <a:r>
              <a:rPr lang="es-AR" sz="3450" b="1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señal</a:t>
            </a:r>
            <a:r>
              <a:rPr lang="es-AR" sz="34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funciona mejor?</a:t>
            </a:r>
          </a:p>
        </p:txBody>
      </p:sp>
      <p:sp>
        <p:nvSpPr>
          <p:cNvPr id="7" name="Measurement −28 dBm"/>
          <p:cNvSpPr/>
          <p:nvPr/>
        </p:nvSpPr>
        <p:spPr>
          <a:xfrm>
            <a:off x="609600" y="1905000"/>
            <a:ext cx="2590800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s-AR"/>
          </a:p>
        </p:txBody>
      </p:sp>
      <p:sp>
        <p:nvSpPr>
          <p:cNvPr id="8" name="RSSI"/>
          <p:cNvSpPr txBox="1"/>
          <p:nvPr/>
        </p:nvSpPr>
        <p:spPr>
          <a:xfrm>
            <a:off x="838200" y="2133600"/>
            <a:ext cx="2133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360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−28 dBm</a:t>
            </a:r>
          </a:p>
        </p:txBody>
      </p:sp>
      <p:sp>
        <p:nvSpPr>
          <p:cNvPr id="9" name="Setup"/>
          <p:cNvSpPr txBox="1"/>
          <p:nvPr/>
        </p:nvSpPr>
        <p:spPr>
          <a:xfrm>
            <a:off x="838200" y="2895600"/>
            <a:ext cx="2133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3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Placas muy cerca</a:t>
            </a:r>
          </a:p>
        </p:txBody>
      </p:sp>
      <p:sp>
        <p:nvSpPr>
          <p:cNvPr id="10" name="Effect"/>
          <p:cNvSpPr txBox="1"/>
          <p:nvPr/>
        </p:nvSpPr>
        <p:spPr>
          <a:xfrm>
            <a:off x="838200" y="3230880"/>
            <a:ext cx="21336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 caminar: </a:t>
            </a:r>
            <a:r>
              <a:rPr lang="es-AR" sz="1200" b="1">
                <a:solidFill>
                  <a:srgbClr val="D32F2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5–10σ</a:t>
            </a:r>
          </a:p>
        </p:txBody>
      </p:sp>
      <p:sp>
        <p:nvSpPr>
          <p:cNvPr id="11" name="Measurement −50 dBm"/>
          <p:cNvSpPr/>
          <p:nvPr/>
        </p:nvSpPr>
        <p:spPr>
          <a:xfrm>
            <a:off x="3429000" y="1905000"/>
            <a:ext cx="2590800" cy="2286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s-AR"/>
          </a:p>
        </p:txBody>
      </p:sp>
      <p:sp>
        <p:nvSpPr>
          <p:cNvPr id="12" name="RSSI"/>
          <p:cNvSpPr txBox="1"/>
          <p:nvPr/>
        </p:nvSpPr>
        <p:spPr>
          <a:xfrm>
            <a:off x="3657600" y="2133600"/>
            <a:ext cx="2133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360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−50 dBm</a:t>
            </a:r>
          </a:p>
        </p:txBody>
      </p:sp>
      <p:sp>
        <p:nvSpPr>
          <p:cNvPr id="13" name="Setup"/>
          <p:cNvSpPr txBox="1"/>
          <p:nvPr/>
        </p:nvSpPr>
        <p:spPr>
          <a:xfrm>
            <a:off x="3657600" y="2895600"/>
            <a:ext cx="21336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3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Placas a 2–4 m</a:t>
            </a:r>
          </a:p>
        </p:txBody>
      </p:sp>
      <p:sp>
        <p:nvSpPr>
          <p:cNvPr id="14" name="Effect"/>
          <p:cNvSpPr txBox="1"/>
          <p:nvPr/>
        </p:nvSpPr>
        <p:spPr>
          <a:xfrm>
            <a:off x="3657600" y="3230880"/>
            <a:ext cx="21336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 caminar: </a:t>
            </a:r>
            <a:r>
              <a:rPr lang="es-AR" sz="1200" b="1">
                <a:solidFill>
                  <a:srgbClr val="2E7D3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20–60σ</a:t>
            </a:r>
          </a:p>
        </p:txBody>
      </p:sp>
      <p:sp>
        <p:nvSpPr>
          <p:cNvPr id="15" name="Takeaway"/>
          <p:cNvSpPr/>
          <p:nvPr/>
        </p:nvSpPr>
        <p:spPr>
          <a:xfrm>
            <a:off x="609600" y="4419600"/>
            <a:ext cx="5410200" cy="9906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0" rIns="228600" bIns="0" anchor="ctr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s-AR" sz="130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Más señal no es mejor. </a:t>
            </a: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 que importa es que el cuerpo cruce el camino de la señal, en un ambiente con reflexiones.</a:t>
            </a:r>
          </a:p>
        </p:txBody>
      </p:sp>
      <p:sp>
        <p:nvSpPr>
          <p:cNvPr id="16" name="Placement card"/>
          <p:cNvSpPr/>
          <p:nvPr/>
        </p:nvSpPr>
        <p:spPr>
          <a:xfrm>
            <a:off x="6248400" y="1905000"/>
            <a:ext cx="5334000" cy="3505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s-AR"/>
          </a:p>
        </p:txBody>
      </p:sp>
      <p:sp>
        <p:nvSpPr>
          <p:cNvPr id="17" name="Placement title"/>
          <p:cNvSpPr txBox="1"/>
          <p:nvPr/>
        </p:nvSpPr>
        <p:spPr>
          <a:xfrm>
            <a:off x="6477000" y="2133600"/>
            <a:ext cx="48768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6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Guía de ubicación</a:t>
            </a:r>
          </a:p>
        </p:txBody>
      </p:sp>
      <p:pic>
        <p:nvPicPr>
          <p:cNvPr id="18" name="Check 1" descr="Check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477000" y="2590800"/>
            <a:ext cx="228600" cy="228600"/>
          </a:xfrm>
          <a:prstGeom prst="rect">
            <a:avLst/>
          </a:prstGeom>
          <a:noFill/>
        </p:spPr>
      </p:pic>
      <p:sp>
        <p:nvSpPr>
          <p:cNvPr id="19" name="Tip 1"/>
          <p:cNvSpPr txBox="1"/>
          <p:nvPr/>
        </p:nvSpPr>
        <p:spPr>
          <a:xfrm>
            <a:off x="6858000" y="2590800"/>
            <a:ext cx="4495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Señal orientativa: entre −40 y −65 dBm</a:t>
            </a:r>
          </a:p>
        </p:txBody>
      </p:sp>
      <p:pic>
        <p:nvPicPr>
          <p:cNvPr id="20" name="Check 2" descr="Check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477000" y="3139440"/>
            <a:ext cx="228600" cy="228600"/>
          </a:xfrm>
          <a:prstGeom prst="rect">
            <a:avLst/>
          </a:prstGeom>
          <a:noFill/>
        </p:spPr>
      </p:pic>
      <p:sp>
        <p:nvSpPr>
          <p:cNvPr id="21" name="Tip 2"/>
          <p:cNvSpPr txBox="1"/>
          <p:nvPr/>
        </p:nvSpPr>
        <p:spPr>
          <a:xfrm>
            <a:off x="6858000" y="3139440"/>
            <a:ext cx="4495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Distancia de 2 a 4 m entre las placas</a:t>
            </a:r>
          </a:p>
        </p:txBody>
      </p:sp>
      <p:pic>
        <p:nvPicPr>
          <p:cNvPr id="22" name="Check 3" descr="Check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477000" y="3688080"/>
            <a:ext cx="228600" cy="228600"/>
          </a:xfrm>
          <a:prstGeom prst="rect">
            <a:avLst/>
          </a:prstGeom>
          <a:noFill/>
        </p:spPr>
      </p:pic>
      <p:sp>
        <p:nvSpPr>
          <p:cNvPr id="23" name="Tip 3"/>
          <p:cNvSpPr txBox="1"/>
          <p:nvPr/>
        </p:nvSpPr>
        <p:spPr>
          <a:xfrm>
            <a:off x="6858000" y="3688080"/>
            <a:ext cx="4495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Misma altura; bajas (30–50 cm) para ver a alguien en el piso</a:t>
            </a:r>
          </a:p>
        </p:txBody>
      </p:sp>
      <p:pic>
        <p:nvPicPr>
          <p:cNvPr id="24" name="Check 4" descr="Check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477000" y="4236720"/>
            <a:ext cx="228600" cy="228600"/>
          </a:xfrm>
          <a:prstGeom prst="rect">
            <a:avLst/>
          </a:prstGeom>
          <a:noFill/>
        </p:spPr>
      </p:pic>
      <p:sp>
        <p:nvSpPr>
          <p:cNvPr id="25" name="Tip 4"/>
          <p:cNvSpPr txBox="1"/>
          <p:nvPr/>
        </p:nvSpPr>
        <p:spPr>
          <a:xfrm>
            <a:off x="6858000" y="4236720"/>
            <a:ext cx="4495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Calibrar con los muebles ya ubicados</a:t>
            </a:r>
          </a:p>
        </p:txBody>
      </p:sp>
      <p:pic>
        <p:nvPicPr>
          <p:cNvPr id="26" name="Check 5" descr="Check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477000" y="4785360"/>
            <a:ext cx="228600" cy="228600"/>
          </a:xfrm>
          <a:prstGeom prst="rect">
            <a:avLst/>
          </a:prstGeom>
          <a:noFill/>
        </p:spPr>
      </p:pic>
      <p:sp>
        <p:nvSpPr>
          <p:cNvPr id="27" name="Tip 5"/>
          <p:cNvSpPr txBox="1"/>
          <p:nvPr/>
        </p:nvSpPr>
        <p:spPr>
          <a:xfrm>
            <a:off x="6858000" y="4785360"/>
            <a:ext cx="44958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buNone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Usar el canal Wi-Fi menos ocupado</a:t>
            </a:r>
          </a:p>
        </p:txBody>
      </p:sp>
      <p:sp>
        <p:nvSpPr>
          <p:cNvPr id="28" name="Caveat"/>
          <p:cNvSpPr txBox="1"/>
          <p:nvPr/>
        </p:nvSpPr>
        <p:spPr>
          <a:xfrm>
            <a:off x="609600" y="5600700"/>
            <a:ext cx="109728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000" b="0">
                <a:solidFill>
                  <a:srgbClr val="8C73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Basado en dos configuraciones medidas por el equipo; el rango es una guía, no una medición sistemática.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ader icon" descr="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33400" y="523875"/>
            <a:ext cx="114300" cy="152400"/>
          </a:xfrm>
          <a:prstGeom prst="rect">
            <a:avLst/>
          </a:prstGeom>
          <a:noFill/>
        </p:spPr>
      </p:pic>
      <p:sp>
        <p:nvSpPr>
          <p:cNvPr id="3" name="Header"/>
          <p:cNvSpPr txBox="1"/>
          <p:nvPr/>
        </p:nvSpPr>
        <p:spPr>
          <a:xfrm>
            <a:off x="762000" y="500062"/>
            <a:ext cx="3807600" cy="184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es-AR" sz="1200" b="1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Hackatón de Hardware: Ghost in the HAL</a:t>
            </a:r>
          </a:p>
        </p:txBody>
      </p:sp>
      <p:pic>
        <p:nvPicPr>
          <p:cNvPr id="4" name="Logo" descr="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922646" y="266688"/>
            <a:ext cx="2952750" cy="723900"/>
          </a:xfrm>
          <a:prstGeom prst="rect">
            <a:avLst/>
          </a:prstGeom>
          <a:noFill/>
        </p:spPr>
      </p:pic>
      <p:sp>
        <p:nvSpPr>
          <p:cNvPr id="5" name="Kicker"/>
          <p:cNvSpPr txBox="1"/>
          <p:nvPr/>
        </p:nvSpPr>
        <p:spPr>
          <a:xfrm>
            <a:off x="609600" y="781050"/>
            <a:ext cx="8001000" cy="18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200" b="1">
                <a:solidFill>
                  <a:srgbClr val="8C73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DE RUTA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609600" y="1057275"/>
            <a:ext cx="10972800" cy="53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</a:pPr>
            <a:r>
              <a:rPr lang="es-AR" sz="34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Próximos </a:t>
            </a:r>
            <a:r>
              <a:rPr lang="es-AR" sz="3450" b="1">
                <a:solidFill>
                  <a:schemeClr val="accent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pasos</a:t>
            </a:r>
          </a:p>
        </p:txBody>
      </p:sp>
      <p:sp>
        <p:nvSpPr>
          <p:cNvPr id="7" name="Corto plazo"/>
          <p:cNvSpPr/>
          <p:nvPr/>
        </p:nvSpPr>
        <p:spPr>
          <a:xfrm>
            <a:off x="609600" y="1905000"/>
            <a:ext cx="3505200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s-AR"/>
          </a:p>
        </p:txBody>
      </p:sp>
      <p:sp>
        <p:nvSpPr>
          <p:cNvPr id="8" name="Badge 1"/>
          <p:cNvSpPr/>
          <p:nvPr/>
        </p:nvSpPr>
        <p:spPr>
          <a:xfrm>
            <a:off x="838200" y="2133600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2C221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s-AR" sz="1500" b="1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</a:t>
            </a:r>
          </a:p>
        </p:txBody>
      </p:sp>
      <p:sp>
        <p:nvSpPr>
          <p:cNvPr id="9" name="Corto plazo title"/>
          <p:cNvSpPr txBox="1"/>
          <p:nvPr/>
        </p:nvSpPr>
        <p:spPr>
          <a:xfrm>
            <a:off x="838200" y="2705100"/>
            <a:ext cx="3048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6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Corto plazo</a:t>
            </a:r>
          </a:p>
        </p:txBody>
      </p:sp>
      <p:sp>
        <p:nvSpPr>
          <p:cNvPr id="10" name="Corto plazo steps"/>
          <p:cNvSpPr txBox="1"/>
          <p:nvPr/>
        </p:nvSpPr>
        <p:spPr>
          <a:xfrm>
            <a:off x="838200" y="3124200"/>
            <a:ext cx="3048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lnSpc>
                <a:spcPct val="115000"/>
              </a:lnSpc>
              <a:spcAft>
                <a:spcPts val="600"/>
              </a:spcAft>
              <a:buClr>
                <a:srgbClr val="5C4D3C"/>
              </a:buClr>
              <a:buChar char="•"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Puntajes y alerta en la placa: sin PC</a:t>
            </a:r>
          </a:p>
          <a:p>
            <a:pPr algn="l" marL="228600" indent="-228600">
              <a:lnSpc>
                <a:spcPct val="115000"/>
              </a:lnSpc>
              <a:spcAft>
                <a:spcPts val="600"/>
              </a:spcAft>
              <a:buClr>
                <a:srgbClr val="5C4D3C"/>
              </a:buClr>
              <a:buChar char="•"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Alerta a la placa del familiar (ESP-NOW)</a:t>
            </a:r>
          </a:p>
          <a:p>
            <a:pPr algn="l" marL="228600" indent="-228600">
              <a:lnSpc>
                <a:spcPct val="115000"/>
              </a:lnSpc>
              <a:spcAft>
                <a:spcPts val="600"/>
              </a:spcAft>
              <a:buClr>
                <a:srgbClr val="5C4D3C"/>
              </a:buClr>
              <a:buChar char="•"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Calibración en dos pasos y línea base adaptativa</a:t>
            </a:r>
          </a:p>
        </p:txBody>
      </p:sp>
      <p:sp>
        <p:nvSpPr>
          <p:cNvPr id="11" name="Mediano plazo"/>
          <p:cNvSpPr/>
          <p:nvPr/>
        </p:nvSpPr>
        <p:spPr>
          <a:xfrm>
            <a:off x="4343400" y="1905000"/>
            <a:ext cx="3505200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s-AR"/>
          </a:p>
        </p:txBody>
      </p:sp>
      <p:sp>
        <p:nvSpPr>
          <p:cNvPr id="12" name="Badge 2"/>
          <p:cNvSpPr/>
          <p:nvPr/>
        </p:nvSpPr>
        <p:spPr>
          <a:xfrm>
            <a:off x="4572000" y="2133600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2C221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s-AR" sz="1500" b="1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</a:t>
            </a:r>
          </a:p>
        </p:txBody>
      </p:sp>
      <p:sp>
        <p:nvSpPr>
          <p:cNvPr id="13" name="Mediano plazo title"/>
          <p:cNvSpPr txBox="1"/>
          <p:nvPr/>
        </p:nvSpPr>
        <p:spPr>
          <a:xfrm>
            <a:off x="4572000" y="2705100"/>
            <a:ext cx="3048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6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Mediano plazo</a:t>
            </a:r>
          </a:p>
        </p:txBody>
      </p:sp>
      <p:sp>
        <p:nvSpPr>
          <p:cNvPr id="14" name="Mediano plazo steps"/>
          <p:cNvSpPr txBox="1"/>
          <p:nvPr/>
        </p:nvSpPr>
        <p:spPr>
          <a:xfrm>
            <a:off x="4572000" y="3124200"/>
            <a:ext cx="3048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lnSpc>
                <a:spcPct val="115000"/>
              </a:lnSpc>
              <a:spcAft>
                <a:spcPts val="600"/>
              </a:spcAft>
              <a:buClr>
                <a:srgbClr val="5C4D3C"/>
              </a:buClr>
              <a:buChar char="•"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Usar el router de la casa como emisor: un solo dispositivo</a:t>
            </a:r>
          </a:p>
          <a:p>
            <a:pPr algn="l" marL="228600" indent="-228600">
              <a:lnSpc>
                <a:spcPct val="115000"/>
              </a:lnSpc>
              <a:spcAft>
                <a:spcPts val="600"/>
              </a:spcAft>
              <a:buClr>
                <a:srgbClr val="5C4D3C"/>
              </a:buClr>
              <a:buChar char="•"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Sumar fase y HT-LTF: más información por paquete</a:t>
            </a:r>
          </a:p>
          <a:p>
            <a:pPr algn="l" marL="228600" indent="-228600">
              <a:lnSpc>
                <a:spcPct val="115000"/>
              </a:lnSpc>
              <a:spcAft>
                <a:spcPts val="600"/>
              </a:spcAft>
              <a:buClr>
                <a:srgbClr val="5C4D3C"/>
              </a:buClr>
              <a:buChar char="•"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Detectar la respiración en reposo</a:t>
            </a:r>
          </a:p>
          <a:p>
            <a:pPr algn="l" marL="228600" indent="-228600">
              <a:lnSpc>
                <a:spcPct val="115000"/>
              </a:lnSpc>
              <a:spcAft>
                <a:spcPts val="600"/>
              </a:spcAft>
              <a:buClr>
                <a:srgbClr val="5C4D3C"/>
              </a:buClr>
              <a:buChar char="•"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Tendencias de actividad diaria</a:t>
            </a:r>
          </a:p>
        </p:txBody>
      </p:sp>
      <p:sp>
        <p:nvSpPr>
          <p:cNvPr id="15" name="Largo plazo"/>
          <p:cNvSpPr/>
          <p:nvPr/>
        </p:nvSpPr>
        <p:spPr>
          <a:xfrm>
            <a:off x="8077200" y="1905000"/>
            <a:ext cx="3505200" cy="3657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endParaRPr lang="es-AR"/>
          </a:p>
        </p:txBody>
      </p:sp>
      <p:sp>
        <p:nvSpPr>
          <p:cNvPr id="16" name="Badge 3"/>
          <p:cNvSpPr/>
          <p:nvPr/>
        </p:nvSpPr>
        <p:spPr>
          <a:xfrm>
            <a:off x="8305800" y="2133600"/>
            <a:ext cx="419100" cy="419100"/>
          </a:xfrm>
          <a:prstGeom prst="roundRect">
            <a:avLst>
              <a:gd name="adj" fmla="val 31818"/>
            </a:avLst>
          </a:prstGeom>
          <a:solidFill>
            <a:srgbClr val="2C221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</a:pPr>
            <a:r>
              <a:rPr lang="es-AR" sz="1500" b="1">
                <a:solidFill>
                  <a:srgbClr val="F7F4E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</a:t>
            </a:r>
          </a:p>
        </p:txBody>
      </p:sp>
      <p:sp>
        <p:nvSpPr>
          <p:cNvPr id="17" name="Largo plazo title"/>
          <p:cNvSpPr txBox="1"/>
          <p:nvPr/>
        </p:nvSpPr>
        <p:spPr>
          <a:xfrm>
            <a:off x="8305800" y="2705100"/>
            <a:ext cx="3048000" cy="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buNone/>
            </a:pPr>
            <a:r>
              <a:rPr lang="es-AR" sz="1650" b="1">
                <a:solidFill>
                  <a:srgbClr val="241A0E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Largo plazo</a:t>
            </a:r>
          </a:p>
        </p:txBody>
      </p:sp>
      <p:sp>
        <p:nvSpPr>
          <p:cNvPr id="18" name="Largo plazo steps"/>
          <p:cNvSpPr txBox="1"/>
          <p:nvPr/>
        </p:nvSpPr>
        <p:spPr>
          <a:xfrm>
            <a:off x="8305800" y="3124200"/>
            <a:ext cx="3048000" cy="2286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28600" indent="-228600">
              <a:lnSpc>
                <a:spcPct val="115000"/>
              </a:lnSpc>
              <a:spcAft>
                <a:spcPts val="600"/>
              </a:spcAft>
              <a:buClr>
                <a:srgbClr val="5C4D3C"/>
              </a:buClr>
              <a:buChar char="•"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3+ enlaces para ubicar zonas de la casa</a:t>
            </a:r>
          </a:p>
          <a:p>
            <a:pPr algn="l" marL="228600" indent="-228600">
              <a:lnSpc>
                <a:spcPct val="115000"/>
              </a:lnSpc>
              <a:spcAft>
                <a:spcPts val="600"/>
              </a:spcAft>
              <a:buClr>
                <a:srgbClr val="5C4D3C"/>
              </a:buClr>
              <a:buChar char="•"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TinyML entrenado con datos etiquetados</a:t>
            </a:r>
          </a:p>
          <a:p>
            <a:pPr algn="l" marL="228600" indent="-228600">
              <a:lnSpc>
                <a:spcPct val="115000"/>
              </a:lnSpc>
              <a:spcAft>
                <a:spcPts val="600"/>
              </a:spcAft>
              <a:buClr>
                <a:srgbClr val="5C4D3C"/>
              </a:buClr>
              <a:buChar char="•"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Integración con asistentes como Ato</a:t>
            </a:r>
          </a:p>
          <a:p>
            <a:pPr algn="l" marL="228600" indent="-228600">
              <a:lnSpc>
                <a:spcPct val="115000"/>
              </a:lnSpc>
              <a:spcAft>
                <a:spcPts val="600"/>
              </a:spcAft>
              <a:buClr>
                <a:srgbClr val="5C4D3C"/>
              </a:buClr>
              <a:buChar char="•"/>
            </a:pPr>
            <a:r>
              <a:rPr lang="es-AR" sz="1200" b="0">
                <a:solidFill>
                  <a:srgbClr val="5C4D3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App y panel para cuidadores</a:t>
            </a:r>
          </a:p>
        </p:txBody>
      </p:sp>
      <p:sp>
        <p:nvSpPr>
          <p:cNvPr id="19" name="Goal"/>
          <p:cNvSpPr/>
          <p:nvPr/>
        </p:nvSpPr>
        <p:spPr>
          <a:xfrm>
            <a:off x="609600" y="5715000"/>
            <a:ext cx="10972800" cy="609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txBody>
          <a:bodyPr wrap="square" lIns="228600" tIns="0" rIns="228600" bIns="0" anchor="ctr">
            <a:noAutofit/>
          </a:bodyPr>
          <a:lstStyle/>
          <a:p>
            <a:pPr algn="l">
              <a:buNone/>
            </a:pPr>
            <a:r>
              <a:rPr lang="es-AR" sz="1300" b="1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Objetivo: </a:t>
            </a:r>
            <a:r>
              <a:rPr lang="es-AR" sz="1300" b="0">
                <a:solidFill>
                  <a:srgbClr val="2C221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 sensor de ~US$10 que se instala en minutos y cuida sin cámaras ni wearables.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