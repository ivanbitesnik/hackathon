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us Jakarta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regular.fntdata"/><Relationship Id="rId10" Type="http://schemas.openxmlformats.org/officeDocument/2006/relationships/slide" Target="slides/slide6.xml"/><Relationship Id="rId13" Type="http://schemas.openxmlformats.org/officeDocument/2006/relationships/font" Target="fonts/PlusJakartaSans-italic.fntdata"/><Relationship Id="rId12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usJakarta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439c0b7642b9ea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439c0b7642b9ea2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439c0b7642b9ea20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439c0b7642b9ea20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112716"/>
            <a:ext cx="2247900" cy="352425"/>
          </a:xfrm>
          <a:prstGeom prst="roundRect">
            <a:avLst>
              <a:gd fmla="val 50000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560400"/>
            <a:ext cx="1266900" cy="352500"/>
          </a:xfrm>
          <a:prstGeom prst="roundRect">
            <a:avLst>
              <a:gd fmla="val 50000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title="Gemini_Generated_Image_d2xl99d2xl99d2xl.jpg"/>
          <p:cNvPicPr preferRelativeResize="0"/>
          <p:nvPr/>
        </p:nvPicPr>
        <p:blipFill rotWithShape="1">
          <a:blip r:embed="rId3">
            <a:alphaModFix/>
          </a:blip>
          <a:srcRect b="0" l="5146" r="4093" t="0"/>
          <a:stretch/>
        </p:blipFill>
        <p:spPr>
          <a:xfrm>
            <a:off x="6453521" y="2514563"/>
            <a:ext cx="5549400" cy="341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3"/>
          <p:cNvSpPr txBox="1"/>
          <p:nvPr/>
        </p:nvSpPr>
        <p:spPr>
          <a:xfrm>
            <a:off x="278296" y="1529801"/>
            <a:ext cx="61728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de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Caídas</a:t>
            </a: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Movimientos Bruscos</a:t>
            </a: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vía Wi-Fi con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ESP32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626941"/>
            <a:ext cx="72295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Cuidado de Adultos Mayores &amp; IoT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4188916"/>
            <a:ext cx="1962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Enlace Tx / Rx Dual ESP32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0100" y="4636600"/>
            <a:ext cx="9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Baja tensión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21100" y="6545450"/>
            <a:ext cx="827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Pironio Mariano; Pironio </a:t>
            </a: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Bernardo</a:t>
            </a: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; Bitesnik Ivan; Mastantuono Tomás  </a:t>
            </a:r>
            <a:endParaRPr sz="1800">
              <a:solidFill>
                <a:srgbClr val="2C221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238286" y="2059930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38286" y="3458021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38286" y="4856112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915" y="2252067"/>
            <a:ext cx="478348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title="Gemini_Generated_Image_komlofkomlofkoml.jpg"/>
          <p:cNvPicPr preferRelativeResize="0"/>
          <p:nvPr/>
        </p:nvPicPr>
        <p:blipFill rotWithShape="1">
          <a:blip r:embed="rId4">
            <a:alphaModFix/>
          </a:blip>
          <a:srcRect b="0" l="5197" r="6417" t="0"/>
          <a:stretch/>
        </p:blipFill>
        <p:spPr>
          <a:xfrm>
            <a:off x="6284575" y="2252075"/>
            <a:ext cx="5731999" cy="361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986" y="23970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86" y="379511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86" y="519320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523" y="253990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436" y="3937992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861" y="533608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990600"/>
            <a:ext cx="11582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dilema al cuidar personas mayores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vulnerables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228886" y="2288530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Invasión de Privacidad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28886" y="2593330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cámaras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pueden ser muy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invasivas en los dormitorios y baños.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228886" y="3686621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Dependencia del Usuario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28886" y="3991421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pulseras y botones de pánico no sirven si la persona los olvida, los descarga o queda inconsciente.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28886" y="5084712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Alto Costo de Sensores Dedicados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28886" y="5389512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radares médicos mmWave superan los $300 USD y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suelen requerir instalaciones comples y costosas.</a:t>
            </a:r>
            <a:endParaRPr/>
          </a:p>
        </p:txBody>
      </p:sp>
      <p:pic>
        <p:nvPicPr>
          <p:cNvPr id="117" name="Google Shape;117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463605" y="2813595"/>
            <a:ext cx="5118794" cy="3000375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2788294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9600" y="3801516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09600" y="4814738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3752" y="3118395"/>
            <a:ext cx="32385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254431" y="1216617"/>
            <a:ext cx="11582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se detecta la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 </a:t>
            </a: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 las dos placas ESP32?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6725" y="278829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6725" y="380151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6725" y="4814738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68405" y="5309145"/>
            <a:ext cx="1690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Emisor (ESP32 #1)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265765" y="5309145"/>
            <a:ext cx="1583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 Intermedia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677400" y="530914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Receptor (ESP32 #2)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19200" y="2788294"/>
            <a:ext cx="6433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Enlace Punto a Punto (Tx </a:t>
            </a:r>
            <a:r>
              <a:rPr b="1" lang="en-US" sz="165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</a:t>
            </a: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19200" y="3093094"/>
            <a:ext cx="499675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ESP32 actúa como transmisor (Tx) constante y el segundo ESP32 como receptor (Rx) en la misma habitación.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219200" y="3801516"/>
            <a:ext cx="6433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Monitoreo de Subportadoras CSI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219200" y="4106316"/>
            <a:ext cx="499675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ESP32 receptor mide continuamente la amplitud y fase del haz de ondas que viaja entre ambos nodos.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19200" y="4814738"/>
            <a:ext cx="6433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de Caída en el Enlace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19200" y="5119538"/>
            <a:ext cx="499675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caer la persona entre las dos placas, distorsiona abruptamente la onda generando un pico claro en el receptor.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title="equatio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7832" y="2817315"/>
            <a:ext cx="35719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533400" y="6019800"/>
            <a:ext cx="11125200" cy="419100"/>
          </a:xfrm>
          <a:prstGeom prst="roundRect">
            <a:avLst>
              <a:gd fmla="val 363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33400" y="2681287"/>
            <a:ext cx="5448300" cy="230520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210300" y="2424112"/>
            <a:ext cx="5448300" cy="13335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10300" y="3910012"/>
            <a:ext cx="5448300" cy="13335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10300" y="2424112"/>
            <a:ext cx="57300" cy="13335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210300" y="3910012"/>
            <a:ext cx="57300" cy="13335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37419" y="4450172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61341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6050" y="26908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6050" y="417671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33400" y="781050"/>
            <a:ext cx="116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ESPECTRAL DE LA SEÑAL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365312" y="1057275"/>
            <a:ext cx="11658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Firma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Espectral </a:t>
            </a: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CSI: ¿Cómo traduce el ESP32 la caída?</a:t>
            </a:r>
            <a:endParaRPr sz="3450"/>
          </a:p>
        </p:txBody>
      </p:sp>
      <p:sp>
        <p:nvSpPr>
          <p:cNvPr id="164" name="Google Shape;164;p16"/>
          <p:cNvSpPr txBox="1"/>
          <p:nvPr/>
        </p:nvSpPr>
        <p:spPr>
          <a:xfrm>
            <a:off x="1028700" y="6138862"/>
            <a:ext cx="11163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Conexión Directa Tx </a:t>
            </a:r>
            <a:r>
              <a:rPr b="1" lang="en-US" sz="1125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</a:t>
            </a:r>
            <a:r>
              <a:rPr b="1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Rx:</a:t>
            </a:r>
            <a:r>
              <a:rPr b="0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par de ESP32 opera en un canal directo sin mediación de router ni dependencia de señal de Internet.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62000" y="2914650"/>
            <a:ext cx="398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Espectrograma CSI (64 Subcarriers)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496050" y="2652712"/>
            <a:ext cx="569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Motion (Métrica de Movimiento Brusco)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496050" y="2928937"/>
            <a:ext cx="5029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</a:t>
            </a: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varianza espectral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una ventana de ~0.5 segundos. La aceleración vertical de una caída provoca un pico repentino de varios sigmas (</a:t>
            </a:r>
            <a:r>
              <a:rPr lang="en-US" sz="1125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sobre el ruido de calibración.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496050" y="4138612"/>
            <a:ext cx="569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76D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Presence (Métrica de Post-Caída / Inmovilidad)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96050" y="4414837"/>
            <a:ext cx="5029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</a:t>
            </a: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distancia acumulada frente al cuarto vacío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Si la persona cae y queda tendida en el piso, la presencia permanece alta aunque el movimiento vuelva a cero.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733075" y="3440850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38815" y="3474013"/>
            <a:ext cx="327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 Y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299120" y="3414712"/>
            <a:ext cx="4549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64 Subportadoras (Subcarriers):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Canales independientes de frecuencia OFDM.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730045" y="3902489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838815" y="3944732"/>
            <a:ext cx="371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 X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343025" y="3910012"/>
            <a:ext cx="450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/ Frames: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Captura continua (~100 muestras por segundo).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05360" y="4496187"/>
            <a:ext cx="419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Color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390650" y="4395787"/>
            <a:ext cx="445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Amplitud Normalizada: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Filtra ganancias de radio (AGC) para evitar falsas alarmas.</a:t>
            </a:r>
            <a:endParaRPr/>
          </a:p>
        </p:txBody>
      </p:sp>
      <p:pic>
        <p:nvPicPr>
          <p:cNvPr id="178" name="Google Shape;1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1025" y="3455897"/>
            <a:ext cx="114300" cy="9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title="equation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29453" y="6176007"/>
            <a:ext cx="190500" cy="10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8287057" y="2740371"/>
            <a:ext cx="3516300" cy="2057400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379144" y="2740371"/>
            <a:ext cx="3516300" cy="2057400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09600" y="5539978"/>
            <a:ext cx="10972800" cy="860821"/>
          </a:xfrm>
          <a:prstGeom prst="roundRect">
            <a:avLst>
              <a:gd fmla="val 221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28126" y="2786871"/>
            <a:ext cx="3516300" cy="2057400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0300" y="367382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2493" y="367382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583703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6212" y="3117651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7036" y="3117651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52976" y="3121376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609600" y="990600"/>
            <a:ext cx="11582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</a:t>
            </a:r>
            <a:r>
              <a:rPr b="1" lang="en-US" sz="345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</a:t>
            </a:r>
            <a:r>
              <a:rPr b="1" lang="en-US" sz="345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 </a:t>
            </a:r>
            <a:r>
              <a:rPr b="1" lang="en-US" sz="345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 funcionamiento del par ESP32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09600" y="519112"/>
            <a:ext cx="4155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333500" y="5730478"/>
            <a:ext cx="10077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Autónomo y Descentralizado:</a:t>
            </a:r>
            <a:r>
              <a:rPr b="0" i="0" lang="en-US" sz="135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comunicación directa entre los dos ESP32 </a:t>
            </a:r>
            <a:r>
              <a:rPr lang="en-US" sz="135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la detección de  cambios abruptos los cuales se detectan como outliers, alertando de un posible incidente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350236" y="3670101"/>
            <a:ext cx="369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ESP32 Transmisor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54286" y="4032051"/>
            <a:ext cx="351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Emite ráfagas continuas de paquetes Wi-Fi a frecuencia fija.</a:t>
            </a:r>
            <a:endParaRPr sz="1350"/>
          </a:p>
        </p:txBody>
      </p:sp>
      <p:sp>
        <p:nvSpPr>
          <p:cNvPr id="200" name="Google Shape;200;p17"/>
          <p:cNvSpPr txBox="1"/>
          <p:nvPr/>
        </p:nvSpPr>
        <p:spPr>
          <a:xfrm>
            <a:off x="4301104" y="3670101"/>
            <a:ext cx="369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ESP32 Receptor (CSI)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4389010" y="4032051"/>
            <a:ext cx="351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 la variación en la matriz de ondas entre ambas placas.</a:t>
            </a:r>
            <a:endParaRPr sz="1350"/>
          </a:p>
        </p:txBody>
      </p:sp>
      <p:sp>
        <p:nvSpPr>
          <p:cNvPr id="202" name="Google Shape;202;p17"/>
          <p:cNvSpPr txBox="1"/>
          <p:nvPr/>
        </p:nvSpPr>
        <p:spPr>
          <a:xfrm>
            <a:off x="8101119" y="3673826"/>
            <a:ext cx="369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Alerta de Caída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314349" y="3977296"/>
            <a:ext cx="351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Notificación push a cuidadores o llamada automática ante picos de caída.</a:t>
            </a:r>
            <a:endParaRPr sz="1350"/>
          </a:p>
        </p:txBody>
      </p:sp>
      <p:pic>
        <p:nvPicPr>
          <p:cNvPr id="204" name="Google Shape;20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/>
        </p:nvSpPr>
        <p:spPr>
          <a:xfrm>
            <a:off x="3902999" y="1138400"/>
            <a:ext cx="4386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¡Muchas Gracias!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10" name="Google Shape;2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4569600" y="1738700"/>
            <a:ext cx="295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</a:t>
            </a:r>
            <a:r>
              <a:rPr b="1" lang="en-US" sz="360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Preguntas</a:t>
            </a:r>
            <a:r>
              <a:rPr b="1" lang="en-US" sz="3600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sz="1100">
              <a:solidFill>
                <a:srgbClr val="D32F2F"/>
              </a:solidFill>
            </a:endParaRPr>
          </a:p>
        </p:txBody>
      </p:sp>
      <p:pic>
        <p:nvPicPr>
          <p:cNvPr id="214" name="Google Shape;214;p18" title="Gemini_Generated_Image_2rensq2rensq2re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9163" y="2461625"/>
            <a:ext cx="7073700" cy="394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